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1"/>
  </p:notesMasterIdLst>
  <p:handoutMasterIdLst>
    <p:handoutMasterId r:id="rId12"/>
  </p:handoutMasterIdLst>
  <p:sldIdLst>
    <p:sldId id="312" r:id="rId5"/>
    <p:sldId id="304" r:id="rId6"/>
    <p:sldId id="282" r:id="rId7"/>
    <p:sldId id="307" r:id="rId8"/>
    <p:sldId id="281" r:id="rId9"/>
    <p:sldId id="313" r:id="rId10"/>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p:scale>
          <a:sx n="58" d="100"/>
          <a:sy n="58" d="100"/>
        </p:scale>
        <p:origin x="988" y="68"/>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microsoft.com/office/2018/10/relationships/authors" Target="authors.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80ECD8-01E0-F3B3-A061-8B0F71FDE6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1C428C-6843-4748-56B9-06F1EA0A9321}"/>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19594855-FD38-70DE-CCCD-D7E20CABD2CA}"/>
              </a:ext>
            </a:extLst>
          </p:cNvPr>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919052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256222" y="810227"/>
            <a:ext cx="7920610" cy="3831221"/>
          </a:xfrm>
        </p:spPr>
        <p:txBody>
          <a:bodyPr anchor="ctr"/>
          <a:lstStyle/>
          <a:p>
            <a:r>
              <a:rPr lang="en-US" dirty="0"/>
              <a:t>PHARMACY2U</a:t>
            </a:r>
            <a:br>
              <a:rPr lang="en-US" dirty="0"/>
            </a:br>
            <a:r>
              <a:rPr lang="en-US" sz="3200" dirty="0"/>
              <a:t>Challenge A</a:t>
            </a:r>
          </a:p>
        </p:txBody>
      </p:sp>
      <p:sp>
        <p:nvSpPr>
          <p:cNvPr id="3" name="TextBox 2">
            <a:extLst>
              <a:ext uri="{FF2B5EF4-FFF2-40B4-BE49-F238E27FC236}">
                <a16:creationId xmlns:a16="http://schemas.microsoft.com/office/drawing/2014/main" id="{DA4AD475-47B0-4C41-BC34-3F62E4A66FD4}"/>
              </a:ext>
            </a:extLst>
          </p:cNvPr>
          <p:cNvSpPr txBox="1"/>
          <p:nvPr/>
        </p:nvSpPr>
        <p:spPr>
          <a:xfrm>
            <a:off x="4388386" y="5460899"/>
            <a:ext cx="3415228" cy="1261884"/>
          </a:xfrm>
          <a:prstGeom prst="rect">
            <a:avLst/>
          </a:prstGeom>
          <a:noFill/>
        </p:spPr>
        <p:txBody>
          <a:bodyPr wrap="square" rtlCol="0">
            <a:spAutoFit/>
          </a:bodyPr>
          <a:lstStyle/>
          <a:p>
            <a:pPr algn="ctr"/>
            <a:r>
              <a:rPr lang="en-IN" sz="1900" dirty="0">
                <a:solidFill>
                  <a:schemeClr val="bg1"/>
                </a:solidFill>
              </a:rPr>
              <a:t>Abhisri Ravi </a:t>
            </a:r>
          </a:p>
          <a:p>
            <a:pPr algn="ctr"/>
            <a:r>
              <a:rPr lang="en-IN" sz="1900" dirty="0">
                <a:solidFill>
                  <a:schemeClr val="bg1"/>
                </a:solidFill>
              </a:rPr>
              <a:t>Umar Khan </a:t>
            </a:r>
          </a:p>
          <a:p>
            <a:pPr algn="ctr"/>
            <a:r>
              <a:rPr lang="en-IN" sz="1900" dirty="0">
                <a:solidFill>
                  <a:schemeClr val="bg1"/>
                </a:solidFill>
              </a:rPr>
              <a:t>Siddhi Tandel </a:t>
            </a:r>
          </a:p>
          <a:p>
            <a:pPr algn="ctr"/>
            <a:r>
              <a:rPr lang="en-IN" sz="1900" dirty="0">
                <a:solidFill>
                  <a:schemeClr val="bg1"/>
                </a:solidFill>
              </a:rPr>
              <a:t>Atharva Khamkar</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765974" y="0"/>
            <a:ext cx="6583680" cy="1531357"/>
          </a:xfrm>
        </p:spPr>
        <p:txBody>
          <a:bodyPr/>
          <a:lstStyle/>
          <a:p>
            <a:r>
              <a:rPr lang="en-US" dirty="0"/>
              <a:t>Data Preprocessing </a:t>
            </a: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668003" y="1645880"/>
            <a:ext cx="6995540" cy="3207344"/>
          </a:xfrm>
        </p:spPr>
        <p:txBody>
          <a:bodyPr>
            <a:noAutofit/>
          </a:bodyPr>
          <a:lstStyle/>
          <a:p>
            <a:pPr marL="342900" indent="-342900" algn="just">
              <a:buAutoNum type="arabicPeriod"/>
            </a:pPr>
            <a:r>
              <a:rPr lang="en-US" sz="1700" dirty="0"/>
              <a:t>Data conversion: It is much needed to sort the events to scale the gap between the refills. It is used to calculate the gaps between the refills, to calculate the expected supply duration with actual refill timing. </a:t>
            </a:r>
          </a:p>
          <a:p>
            <a:pPr marL="342900" indent="-342900" algn="just">
              <a:buAutoNum type="arabicPeriod"/>
            </a:pPr>
            <a:r>
              <a:rPr lang="en-US" sz="1700" dirty="0"/>
              <a:t>Temporal Sorting: Sorting based on service date to learn how regularly how often the patient refills, whether refill timing is getting worse, whether the past delays suggest future delays as well. </a:t>
            </a:r>
          </a:p>
          <a:p>
            <a:pPr marL="342900" indent="-342900" algn="just">
              <a:buAutoNum type="arabicPeriod"/>
            </a:pPr>
            <a:r>
              <a:rPr lang="en-US" sz="1700" dirty="0"/>
              <a:t>Handling Sparsity: here we have filled missing values with zeros to represent the absence of chronic conditions, doing so makes the features usable by the model </a:t>
            </a:r>
          </a:p>
          <a:p>
            <a:pPr marL="342900" indent="-342900" algn="just">
              <a:buAutoNum type="arabicPeriod"/>
            </a:pPr>
            <a:r>
              <a:rPr lang="en-US" sz="1700" dirty="0"/>
              <a:t>Encoding Categorical features: converts categorical values into numerical values so the models can process them, we use scikit-learn tree models for processing of the categorical values</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3</a:t>
            </a:fld>
            <a:endParaRPr lang="en-US" dirty="0"/>
          </a:p>
        </p:txBody>
      </p:sp>
      <p:sp>
        <p:nvSpPr>
          <p:cNvPr id="6" name="Content Placeholder 2">
            <a:extLst>
              <a:ext uri="{FF2B5EF4-FFF2-40B4-BE49-F238E27FC236}">
                <a16:creationId xmlns:a16="http://schemas.microsoft.com/office/drawing/2014/main" id="{12A21E05-C575-78C7-C8C1-D50D375D8B40}"/>
              </a:ext>
            </a:extLst>
          </p:cNvPr>
          <p:cNvSpPr txBox="1">
            <a:spLocks/>
          </p:cNvSpPr>
          <p:nvPr/>
        </p:nvSpPr>
        <p:spPr>
          <a:xfrm>
            <a:off x="3460565" y="2396995"/>
            <a:ext cx="7822854" cy="3207344"/>
          </a:xfrm>
          <a:prstGeom prst="rect">
            <a:avLst/>
          </a:prstGeom>
        </p:spPr>
        <p:txBody>
          <a:bodyPr>
            <a:no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AutoNum type="arabicPeriod"/>
            </a:pPr>
            <a:r>
              <a:rPr lang="en-US" sz="1700" b="1" dirty="0"/>
              <a:t>Calculate the number of days between previous refill</a:t>
            </a:r>
            <a:r>
              <a:rPr lang="en-US" sz="1700" dirty="0"/>
              <a:t>: this is important for us to calculate the number of days between the refills to notice a pattern, that is if the patient is at risk of refilling late or at failure to refill. </a:t>
            </a:r>
          </a:p>
          <a:p>
            <a:pPr marL="342900" indent="-342900" algn="just">
              <a:buFont typeface="Arial" panose="020B0604020202020204" pitchFamily="34" charset="0"/>
              <a:buAutoNum type="arabicPeriod"/>
            </a:pPr>
            <a:endParaRPr lang="en-US" sz="1700" dirty="0"/>
          </a:p>
          <a:p>
            <a:pPr marL="342900" indent="-342900" algn="just">
              <a:buFont typeface="Arial" panose="020B0604020202020204" pitchFamily="34" charset="0"/>
              <a:buAutoNum type="arabicPeriod"/>
            </a:pPr>
            <a:r>
              <a:rPr lang="en-US" sz="1700" b="1" dirty="0"/>
              <a:t>Chronic Condition Count</a:t>
            </a:r>
            <a:r>
              <a:rPr lang="en-US" sz="1700" dirty="0"/>
              <a:t>: here we count the number of chronic conditions a patient has and use that as a complexity score. A patient with more chronic conditions may have the burden of forgetting to order multiple medication rather than ones with 1 or less chronic conditions. </a:t>
            </a:r>
          </a:p>
        </p:txBody>
      </p:sp>
      <p:sp>
        <p:nvSpPr>
          <p:cNvPr id="9" name="Title 1">
            <a:extLst>
              <a:ext uri="{FF2B5EF4-FFF2-40B4-BE49-F238E27FC236}">
                <a16:creationId xmlns:a16="http://schemas.microsoft.com/office/drawing/2014/main" id="{5FE50866-603C-2F7D-066A-4210D650467D}"/>
              </a:ext>
            </a:extLst>
          </p:cNvPr>
          <p:cNvSpPr>
            <a:spLocks noGrp="1"/>
          </p:cNvSpPr>
          <p:nvPr>
            <p:ph type="title"/>
          </p:nvPr>
        </p:nvSpPr>
        <p:spPr>
          <a:xfrm>
            <a:off x="3460565" y="1094280"/>
            <a:ext cx="7532914" cy="952234"/>
          </a:xfrm>
        </p:spPr>
        <p:txBody>
          <a:bodyPr/>
          <a:lstStyle/>
          <a:p>
            <a:r>
              <a:rPr lang="en-US" dirty="0"/>
              <a:t>Feature Engineering</a:t>
            </a:r>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493E7F4B-204E-CD7F-B5FB-94287B1DCDE1}"/>
              </a:ext>
            </a:extLst>
          </p:cNvPr>
          <p:cNvSpPr txBox="1">
            <a:spLocks/>
          </p:cNvSpPr>
          <p:nvPr/>
        </p:nvSpPr>
        <p:spPr>
          <a:xfrm>
            <a:off x="668003" y="1645880"/>
            <a:ext cx="7822854" cy="3207344"/>
          </a:xfrm>
          <a:prstGeom prst="rect">
            <a:avLst/>
          </a:prstGeom>
        </p:spPr>
        <p:txBody>
          <a:bodyPr>
            <a:no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gn="just">
              <a:buFont typeface="Arial" panose="020B0604020202020204" pitchFamily="34" charset="0"/>
              <a:buAutoNum type="arabicPeriod"/>
            </a:pPr>
            <a:endParaRPr lang="en-US" sz="1700" dirty="0"/>
          </a:p>
        </p:txBody>
      </p:sp>
      <p:sp>
        <p:nvSpPr>
          <p:cNvPr id="6" name="Content Placeholder 2">
            <a:extLst>
              <a:ext uri="{FF2B5EF4-FFF2-40B4-BE49-F238E27FC236}">
                <a16:creationId xmlns:a16="http://schemas.microsoft.com/office/drawing/2014/main" id="{450DD303-F644-B81E-B9C3-BF124F6B1CDA}"/>
              </a:ext>
            </a:extLst>
          </p:cNvPr>
          <p:cNvSpPr txBox="1">
            <a:spLocks/>
          </p:cNvSpPr>
          <p:nvPr/>
        </p:nvSpPr>
        <p:spPr>
          <a:xfrm>
            <a:off x="524031" y="2028685"/>
            <a:ext cx="6570831" cy="3207344"/>
          </a:xfrm>
          <a:prstGeom prst="rect">
            <a:avLst/>
          </a:prstGeom>
        </p:spPr>
        <p:txBody>
          <a:bodyPr>
            <a:no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700" dirty="0"/>
              <a:t>We trained </a:t>
            </a:r>
            <a:r>
              <a:rPr lang="en-US" sz="1700" b="1" dirty="0" err="1"/>
              <a:t>XGBoost</a:t>
            </a:r>
            <a:r>
              <a:rPr lang="en-US" sz="1700" dirty="0"/>
              <a:t> with </a:t>
            </a:r>
            <a:r>
              <a:rPr lang="en-US" sz="1700" dirty="0" err="1"/>
              <a:t>scale_pos_weight</a:t>
            </a:r>
            <a:r>
              <a:rPr lang="en-US" sz="1700" dirty="0"/>
              <a:t>=13 to handle the 7:93 imbalance. We compared against a Logistic Regression baseline with class weighting.</a:t>
            </a:r>
          </a:p>
          <a:p>
            <a:pPr marL="0" indent="0" algn="just">
              <a:buNone/>
            </a:pPr>
            <a:endParaRPr lang="en-US" sz="1700" dirty="0"/>
          </a:p>
          <a:p>
            <a:pPr marL="0" indent="0" algn="just">
              <a:buNone/>
            </a:pPr>
            <a:r>
              <a:rPr lang="en-US" sz="1700" b="1" dirty="0"/>
              <a:t>Validation</a:t>
            </a:r>
            <a:r>
              <a:rPr lang="en-US" sz="1700" dirty="0"/>
              <a:t>: We used a time-based split ; training on fills before a cutoff date and testing on fills after it. This prevents the model from seeing future patient </a:t>
            </a:r>
            <a:r>
              <a:rPr lang="en-US" sz="1700" dirty="0" err="1"/>
              <a:t>behaviour</a:t>
            </a:r>
            <a:r>
              <a:rPr lang="en-US" sz="1700" dirty="0"/>
              <a:t> during training, which is the most common leakage mistake in prescription data.</a:t>
            </a:r>
          </a:p>
          <a:p>
            <a:pPr marL="0" indent="0" algn="just">
              <a:buNone/>
            </a:pPr>
            <a:endParaRPr lang="en-US" sz="1700" dirty="0"/>
          </a:p>
          <a:p>
            <a:pPr marL="0" indent="0" algn="just">
              <a:buNone/>
            </a:pPr>
            <a:r>
              <a:rPr lang="en-US" sz="1700" b="1" dirty="0"/>
              <a:t>Metrics</a:t>
            </a:r>
            <a:r>
              <a:rPr lang="en-US" sz="1700" dirty="0"/>
              <a:t>: We report PR-AUC as our primary metric because ROC-AUC is misleadingly high on imbalanced data. Our PR-AUC is [X], compared to a baseline of 0.07 (the prevalence rate). We also ran a quick calibration check our predicted probabilities [are/need to be] reasonably calibrated in the 0.6–0.9 range."</a:t>
            </a:r>
          </a:p>
        </p:txBody>
      </p:sp>
      <p:sp>
        <p:nvSpPr>
          <p:cNvPr id="9" name="Title 1">
            <a:extLst>
              <a:ext uri="{FF2B5EF4-FFF2-40B4-BE49-F238E27FC236}">
                <a16:creationId xmlns:a16="http://schemas.microsoft.com/office/drawing/2014/main" id="{A6F13EAF-073F-E82F-FFD5-1631D5913727}"/>
              </a:ext>
            </a:extLst>
          </p:cNvPr>
          <p:cNvSpPr>
            <a:spLocks noGrp="1"/>
          </p:cNvSpPr>
          <p:nvPr>
            <p:ph type="title"/>
          </p:nvPr>
        </p:nvSpPr>
        <p:spPr>
          <a:xfrm>
            <a:off x="524032" y="786958"/>
            <a:ext cx="7532914" cy="952234"/>
          </a:xfrm>
        </p:spPr>
        <p:txBody>
          <a:bodyPr/>
          <a:lstStyle/>
          <a:p>
            <a:r>
              <a:rPr lang="en-US" dirty="0"/>
              <a:t>Model &amp; VALIDATION</a:t>
            </a:r>
          </a:p>
        </p:txBody>
      </p:sp>
      <p:pic>
        <p:nvPicPr>
          <p:cNvPr id="11" name="Picture 10">
            <a:extLst>
              <a:ext uri="{FF2B5EF4-FFF2-40B4-BE49-F238E27FC236}">
                <a16:creationId xmlns:a16="http://schemas.microsoft.com/office/drawing/2014/main" id="{5B9A2939-98D1-727C-742E-0FF73D3881B5}"/>
              </a:ext>
            </a:extLst>
          </p:cNvPr>
          <p:cNvPicPr>
            <a:picLocks noChangeAspect="1"/>
          </p:cNvPicPr>
          <p:nvPr/>
        </p:nvPicPr>
        <p:blipFill>
          <a:blip r:embed="rId3"/>
          <a:stretch>
            <a:fillRect/>
          </a:stretch>
        </p:blipFill>
        <p:spPr>
          <a:xfrm>
            <a:off x="7238833" y="1632070"/>
            <a:ext cx="4429135" cy="3755178"/>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D8BE8BDF-6A97-F65F-FB87-768543CFF7C6}"/>
              </a:ext>
            </a:extLst>
          </p:cNvPr>
          <p:cNvPicPr>
            <a:picLocks noChangeAspect="1"/>
          </p:cNvPicPr>
          <p:nvPr/>
        </p:nvPicPr>
        <p:blipFill>
          <a:blip r:embed="rId3"/>
          <a:stretch>
            <a:fillRect/>
          </a:stretch>
        </p:blipFill>
        <p:spPr>
          <a:xfrm>
            <a:off x="904247" y="1600199"/>
            <a:ext cx="5191753" cy="4078270"/>
          </a:xfrm>
          <a:prstGeom prst="rect">
            <a:avLst/>
          </a:prstGeom>
        </p:spPr>
      </p:pic>
      <p:pic>
        <p:nvPicPr>
          <p:cNvPr id="20" name="Picture 19">
            <a:extLst>
              <a:ext uri="{FF2B5EF4-FFF2-40B4-BE49-F238E27FC236}">
                <a16:creationId xmlns:a16="http://schemas.microsoft.com/office/drawing/2014/main" id="{435C5F43-EE45-A4D5-576E-D13128860498}"/>
              </a:ext>
            </a:extLst>
          </p:cNvPr>
          <p:cNvPicPr>
            <a:picLocks noChangeAspect="1"/>
          </p:cNvPicPr>
          <p:nvPr/>
        </p:nvPicPr>
        <p:blipFill>
          <a:blip r:embed="rId4"/>
          <a:stretch>
            <a:fillRect/>
          </a:stretch>
        </p:blipFill>
        <p:spPr>
          <a:xfrm>
            <a:off x="6260756" y="1600199"/>
            <a:ext cx="5362039" cy="4078270"/>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797843-9BD8-BD6E-F028-1FD37886391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BD0A948F-2607-23FA-C744-F257FF8B6144}"/>
              </a:ext>
            </a:extLst>
          </p:cNvPr>
          <p:cNvPicPr>
            <a:picLocks noChangeAspect="1"/>
          </p:cNvPicPr>
          <p:nvPr/>
        </p:nvPicPr>
        <p:blipFill>
          <a:blip r:embed="rId3"/>
          <a:stretch>
            <a:fillRect/>
          </a:stretch>
        </p:blipFill>
        <p:spPr>
          <a:xfrm>
            <a:off x="6235547" y="1498294"/>
            <a:ext cx="5324498" cy="3877937"/>
          </a:xfrm>
          <a:prstGeom prst="rect">
            <a:avLst/>
          </a:prstGeom>
        </p:spPr>
      </p:pic>
      <p:pic>
        <p:nvPicPr>
          <p:cNvPr id="18" name="Picture 17">
            <a:extLst>
              <a:ext uri="{FF2B5EF4-FFF2-40B4-BE49-F238E27FC236}">
                <a16:creationId xmlns:a16="http://schemas.microsoft.com/office/drawing/2014/main" id="{A5B162AC-EFAB-E4BF-0CB2-05DB1397E9A9}"/>
              </a:ext>
            </a:extLst>
          </p:cNvPr>
          <p:cNvPicPr>
            <a:picLocks noChangeAspect="1"/>
          </p:cNvPicPr>
          <p:nvPr/>
        </p:nvPicPr>
        <p:blipFill>
          <a:blip r:embed="rId4"/>
          <a:stretch>
            <a:fillRect/>
          </a:stretch>
        </p:blipFill>
        <p:spPr>
          <a:xfrm>
            <a:off x="1090670" y="1498294"/>
            <a:ext cx="4600493" cy="3877937"/>
          </a:xfrm>
          <a:prstGeom prst="rect">
            <a:avLst/>
          </a:prstGeom>
        </p:spPr>
      </p:pic>
    </p:spTree>
    <p:extLst>
      <p:ext uri="{BB962C8B-B14F-4D97-AF65-F5344CB8AC3E}">
        <p14:creationId xmlns:p14="http://schemas.microsoft.com/office/powerpoint/2010/main" val="3618355483"/>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{70441E03-7046-41D8-8BF7-45CCE4D7D13D}tf78438558_win32</Template>
  <TotalTime>27</TotalTime>
  <Words>379</Words>
  <Application>Microsoft Office PowerPoint</Application>
  <PresentationFormat>Widescreen</PresentationFormat>
  <Paragraphs>22</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Arial Black</vt:lpstr>
      <vt:lpstr>Calibri</vt:lpstr>
      <vt:lpstr>Sabon Next LT</vt:lpstr>
      <vt:lpstr>Custom</vt:lpstr>
      <vt:lpstr>PHARMACY2U Challenge A</vt:lpstr>
      <vt:lpstr>Data Preprocessing </vt:lpstr>
      <vt:lpstr>Feature Engineering</vt:lpstr>
      <vt:lpstr>Model &amp; VALIDATION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Abhisri Ravi</dc:creator>
  <cp:lastModifiedBy>Abhisri Ravi</cp:lastModifiedBy>
  <cp:revision>1</cp:revision>
  <dcterms:created xsi:type="dcterms:W3CDTF">2026-03-31T11:21:26Z</dcterms:created>
  <dcterms:modified xsi:type="dcterms:W3CDTF">2026-03-31T11:49:18Z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